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The Seasons Bold" charset="1" panose="00000000000000000000"/>
      <p:regular r:id="rId21"/>
    </p:embeddedFont>
    <p:embeddedFont>
      <p:font typeface="Poppins" charset="1" panose="00000500000000000000"/>
      <p:regular r:id="rId22"/>
    </p:embeddedFont>
    <p:embeddedFont>
      <p:font typeface="The Seasons" charset="1" panose="00000000000000000000"/>
      <p:regular r:id="rId23"/>
    </p:embeddedFont>
    <p:embeddedFont>
      <p:font typeface="Poppins Bold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41136" y="4123923"/>
            <a:ext cx="13382450" cy="5795493"/>
          </a:xfrm>
          <a:prstGeom prst="line">
            <a:avLst/>
          </a:prstGeom>
          <a:ln cap="flat" w="38100">
            <a:solidFill>
              <a:srgbClr val="DCDEBB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57027" y="364019"/>
            <a:ext cx="14729259" cy="7448282"/>
          </a:xfrm>
          <a:prstGeom prst="line">
            <a:avLst/>
          </a:prstGeom>
          <a:ln cap="flat" w="38100">
            <a:solidFill>
              <a:srgbClr val="DCDEBB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734826" y="-684353"/>
            <a:ext cx="5553174" cy="6612391"/>
          </a:xfrm>
          <a:custGeom>
            <a:avLst/>
            <a:gdLst/>
            <a:ahLst/>
            <a:cxnLst/>
            <a:rect r="r" b="b" t="t" l="l"/>
            <a:pathLst>
              <a:path h="6612391" w="5553174">
                <a:moveTo>
                  <a:pt x="0" y="0"/>
                </a:moveTo>
                <a:lnTo>
                  <a:pt x="5553174" y="0"/>
                </a:lnTo>
                <a:lnTo>
                  <a:pt x="5553174" y="6612391"/>
                </a:lnTo>
                <a:lnTo>
                  <a:pt x="0" y="66123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684573" y="6222318"/>
            <a:ext cx="2281698" cy="4642622"/>
          </a:xfrm>
          <a:custGeom>
            <a:avLst/>
            <a:gdLst/>
            <a:ahLst/>
            <a:cxnLst/>
            <a:rect r="r" b="b" t="t" l="l"/>
            <a:pathLst>
              <a:path h="4642622" w="2281698">
                <a:moveTo>
                  <a:pt x="2281698" y="4642621"/>
                </a:moveTo>
                <a:lnTo>
                  <a:pt x="0" y="4642621"/>
                </a:lnTo>
                <a:lnTo>
                  <a:pt x="0" y="0"/>
                </a:lnTo>
                <a:lnTo>
                  <a:pt x="2281698" y="0"/>
                </a:lnTo>
                <a:lnTo>
                  <a:pt x="2281698" y="46426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66578" y="7587266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964742" y="-1028700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57201" y="2935809"/>
            <a:ext cx="1699972" cy="1699972"/>
          </a:xfrm>
          <a:custGeom>
            <a:avLst/>
            <a:gdLst/>
            <a:ahLst/>
            <a:cxnLst/>
            <a:rect r="r" b="b" t="t" l="l"/>
            <a:pathLst>
              <a:path h="1699972" w="1699972">
                <a:moveTo>
                  <a:pt x="0" y="0"/>
                </a:moveTo>
                <a:lnTo>
                  <a:pt x="1699972" y="0"/>
                </a:lnTo>
                <a:lnTo>
                  <a:pt x="1699972" y="1699972"/>
                </a:lnTo>
                <a:lnTo>
                  <a:pt x="0" y="16999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83448" y="3935230"/>
            <a:ext cx="883130" cy="883130"/>
          </a:xfrm>
          <a:custGeom>
            <a:avLst/>
            <a:gdLst/>
            <a:ahLst/>
            <a:cxnLst/>
            <a:rect r="r" b="b" t="t" l="l"/>
            <a:pathLst>
              <a:path h="883130" w="883130">
                <a:moveTo>
                  <a:pt x="0" y="0"/>
                </a:moveTo>
                <a:lnTo>
                  <a:pt x="883130" y="0"/>
                </a:lnTo>
                <a:lnTo>
                  <a:pt x="883130" y="883131"/>
                </a:lnTo>
                <a:lnTo>
                  <a:pt x="0" y="8831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57027" y="5728013"/>
            <a:ext cx="12555432" cy="233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AI-Powered Personalized Email Generation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248245" y="2826291"/>
            <a:ext cx="12555432" cy="2297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935"/>
              </a:lnSpc>
              <a:spcBef>
                <a:spcPct val="0"/>
              </a:spcBef>
            </a:pPr>
            <a:r>
              <a:rPr lang="en-US" b="true" sz="12096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SalesMail AI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41136" y="4123923"/>
            <a:ext cx="13382450" cy="5795493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57027" y="364019"/>
            <a:ext cx="14729259" cy="7448282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705990" y="-684353"/>
            <a:ext cx="3582010" cy="4265245"/>
          </a:xfrm>
          <a:custGeom>
            <a:avLst/>
            <a:gdLst/>
            <a:ahLst/>
            <a:cxnLst/>
            <a:rect r="r" b="b" t="t" l="l"/>
            <a:pathLst>
              <a:path h="4265245" w="3582010">
                <a:moveTo>
                  <a:pt x="0" y="0"/>
                </a:moveTo>
                <a:lnTo>
                  <a:pt x="3582010" y="0"/>
                </a:lnTo>
                <a:lnTo>
                  <a:pt x="3582010" y="4265245"/>
                </a:lnTo>
                <a:lnTo>
                  <a:pt x="0" y="4265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66666" y="6691314"/>
            <a:ext cx="2053877" cy="4179069"/>
          </a:xfrm>
          <a:custGeom>
            <a:avLst/>
            <a:gdLst/>
            <a:ahLst/>
            <a:cxnLst/>
            <a:rect r="r" b="b" t="t" l="l"/>
            <a:pathLst>
              <a:path h="4179069" w="2053877">
                <a:moveTo>
                  <a:pt x="2053877" y="4179069"/>
                </a:moveTo>
                <a:lnTo>
                  <a:pt x="0" y="4179069"/>
                </a:lnTo>
                <a:lnTo>
                  <a:pt x="0" y="0"/>
                </a:lnTo>
                <a:lnTo>
                  <a:pt x="2053877" y="0"/>
                </a:lnTo>
                <a:lnTo>
                  <a:pt x="2053877" y="417906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2944" y="7862015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964742" y="-856982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47015" y="1181570"/>
            <a:ext cx="10498022" cy="162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6"/>
              </a:lnSpc>
            </a:pPr>
            <a:r>
              <a:rPr lang="en-US" b="true" sz="8797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47015" y="3181618"/>
            <a:ext cx="12420216" cy="471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 spc="170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Sales teams manually write individual emails for thousands of customers — a slow, repetitive process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 spc="170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Generic, one-size-fits-all emails have poor open and conversion rates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 spc="170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No easy way to combine customer purchase history, behavior, and spending patterns into personalized outreach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 spc="170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Teams have no visibility into which customers to prioritize or what tone/type of email to send.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41136" y="4123923"/>
            <a:ext cx="13382450" cy="5795493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57027" y="364019"/>
            <a:ext cx="14729259" cy="7448282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705990" y="-684353"/>
            <a:ext cx="3582010" cy="4265245"/>
          </a:xfrm>
          <a:custGeom>
            <a:avLst/>
            <a:gdLst/>
            <a:ahLst/>
            <a:cxnLst/>
            <a:rect r="r" b="b" t="t" l="l"/>
            <a:pathLst>
              <a:path h="4265245" w="3582010">
                <a:moveTo>
                  <a:pt x="0" y="0"/>
                </a:moveTo>
                <a:lnTo>
                  <a:pt x="3582010" y="0"/>
                </a:lnTo>
                <a:lnTo>
                  <a:pt x="3582010" y="4265245"/>
                </a:lnTo>
                <a:lnTo>
                  <a:pt x="0" y="4265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66666" y="6691314"/>
            <a:ext cx="2053877" cy="4179069"/>
          </a:xfrm>
          <a:custGeom>
            <a:avLst/>
            <a:gdLst/>
            <a:ahLst/>
            <a:cxnLst/>
            <a:rect r="r" b="b" t="t" l="l"/>
            <a:pathLst>
              <a:path h="4179069" w="2053877">
                <a:moveTo>
                  <a:pt x="2053877" y="4179069"/>
                </a:moveTo>
                <a:lnTo>
                  <a:pt x="0" y="4179069"/>
                </a:lnTo>
                <a:lnTo>
                  <a:pt x="0" y="0"/>
                </a:lnTo>
                <a:lnTo>
                  <a:pt x="2053877" y="0"/>
                </a:lnTo>
                <a:lnTo>
                  <a:pt x="2053877" y="417906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2944" y="7862015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964742" y="-856982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12633" y="1181570"/>
            <a:ext cx="9440311" cy="162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6"/>
              </a:lnSpc>
            </a:pPr>
            <a:r>
              <a:rPr lang="en-US" b="true" sz="8797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Project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8390" y="2758112"/>
            <a:ext cx="16628798" cy="506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Browse and search  real retail customers from merged transaction data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Auto-generate an AI Intelligence Card for any selected customer (value tier, opportunity, recommended email type &amp; tone)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Generate fully personalized emails in one click — single or bulk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Send emails directly to customer inboxes via SMTP (live sending)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Export bulk drafts to JSON for CRM integration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Upload any custom CSV — system switches to new data instantly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Works 100% offline with DEMO_MODE (zero LLM calls, rule-based fallback)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41136" y="4123923"/>
            <a:ext cx="13382450" cy="5795493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57027" y="364019"/>
            <a:ext cx="14729259" cy="7448282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705990" y="-684353"/>
            <a:ext cx="3582010" cy="4265245"/>
          </a:xfrm>
          <a:custGeom>
            <a:avLst/>
            <a:gdLst/>
            <a:ahLst/>
            <a:cxnLst/>
            <a:rect r="r" b="b" t="t" l="l"/>
            <a:pathLst>
              <a:path h="4265245" w="3582010">
                <a:moveTo>
                  <a:pt x="0" y="0"/>
                </a:moveTo>
                <a:lnTo>
                  <a:pt x="3582010" y="0"/>
                </a:lnTo>
                <a:lnTo>
                  <a:pt x="3582010" y="4265245"/>
                </a:lnTo>
                <a:lnTo>
                  <a:pt x="0" y="4265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66666" y="6691314"/>
            <a:ext cx="2053877" cy="4179069"/>
          </a:xfrm>
          <a:custGeom>
            <a:avLst/>
            <a:gdLst/>
            <a:ahLst/>
            <a:cxnLst/>
            <a:rect r="r" b="b" t="t" l="l"/>
            <a:pathLst>
              <a:path h="4179069" w="2053877">
                <a:moveTo>
                  <a:pt x="2053877" y="4179069"/>
                </a:moveTo>
                <a:lnTo>
                  <a:pt x="0" y="4179069"/>
                </a:lnTo>
                <a:lnTo>
                  <a:pt x="0" y="0"/>
                </a:lnTo>
                <a:lnTo>
                  <a:pt x="2053877" y="0"/>
                </a:lnTo>
                <a:lnTo>
                  <a:pt x="2053877" y="417906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2944" y="7862015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964742" y="-856982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120543" y="2097555"/>
          <a:ext cx="13718909" cy="6591300"/>
        </p:xfrm>
        <a:graphic>
          <a:graphicData uri="http://schemas.openxmlformats.org/drawingml/2006/table">
            <a:tbl>
              <a:tblPr/>
              <a:tblGrid>
                <a:gridCol w="6859455"/>
                <a:gridCol w="6859455"/>
              </a:tblGrid>
              <a:tr h="11872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000000"/>
                          </a:solidFill>
                          <a:latin typeface="The Seasons Bold"/>
                          <a:ea typeface="The Seasons Bold"/>
                          <a:cs typeface="The Seasons Bold"/>
                          <a:sym typeface="The Seasons Bold"/>
                        </a:rPr>
                        <a:t>Layer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000000"/>
                          </a:solidFill>
                          <a:latin typeface="The Seasons Bold"/>
                          <a:ea typeface="The Seasons Bold"/>
                          <a:cs typeface="The Seasons Bold"/>
                          <a:sym typeface="The Seasons Bold"/>
                        </a:rPr>
                        <a:t>Technology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6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Frontend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React 19 + Vite + Tailwind CSS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6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Backend API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FastAPI (Python)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6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AI / LLM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Gemini 2.5 Flash Lite 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6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Data Processing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Pandas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6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Caching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Python in-memory dictionary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6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Email Delivery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Python smtplib (SMTP)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4748631" y="256777"/>
            <a:ext cx="8462734" cy="162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6"/>
              </a:lnSpc>
            </a:pPr>
            <a:r>
              <a:rPr lang="en-US" b="true" sz="8797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Tech Stack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26644" y="2187464"/>
            <a:ext cx="15041651" cy="7712901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57027" y="364019"/>
            <a:ext cx="14729259" cy="7448282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468295" y="-3096737"/>
            <a:ext cx="3582010" cy="4265245"/>
          </a:xfrm>
          <a:custGeom>
            <a:avLst/>
            <a:gdLst/>
            <a:ahLst/>
            <a:cxnLst/>
            <a:rect r="r" b="b" t="t" l="l"/>
            <a:pathLst>
              <a:path h="4265245" w="3582010">
                <a:moveTo>
                  <a:pt x="0" y="0"/>
                </a:moveTo>
                <a:lnTo>
                  <a:pt x="3582010" y="0"/>
                </a:lnTo>
                <a:lnTo>
                  <a:pt x="3582010" y="4265245"/>
                </a:lnTo>
                <a:lnTo>
                  <a:pt x="0" y="4265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026938" y="7356091"/>
            <a:ext cx="2053877" cy="4179069"/>
          </a:xfrm>
          <a:custGeom>
            <a:avLst/>
            <a:gdLst/>
            <a:ahLst/>
            <a:cxnLst/>
            <a:rect r="r" b="b" t="t" l="l"/>
            <a:pathLst>
              <a:path h="4179069" w="2053877">
                <a:moveTo>
                  <a:pt x="2053876" y="4179068"/>
                </a:moveTo>
                <a:lnTo>
                  <a:pt x="0" y="4179068"/>
                </a:lnTo>
                <a:lnTo>
                  <a:pt x="0" y="0"/>
                </a:lnTo>
                <a:lnTo>
                  <a:pt x="2053876" y="0"/>
                </a:lnTo>
                <a:lnTo>
                  <a:pt x="2053876" y="41790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346279" y="8528777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6" y="0"/>
                </a:lnTo>
                <a:lnTo>
                  <a:pt x="46117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993553" y="-1693381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43555" y="566881"/>
            <a:ext cx="11584362" cy="162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6"/>
              </a:lnSpc>
            </a:pPr>
            <a:r>
              <a:rPr lang="en-US" b="true" sz="8797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System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532" y="3153043"/>
            <a:ext cx="7979537" cy="537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0"/>
              </a:lnSpc>
              <a:spcBef>
                <a:spcPct val="0"/>
              </a:spcBef>
            </a:pPr>
            <a:r>
              <a:rPr lang="en-US" sz="3364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[React Frontend]</a:t>
            </a:r>
          </a:p>
          <a:p>
            <a:pPr algn="ctr">
              <a:lnSpc>
                <a:spcPts val="4710"/>
              </a:lnSpc>
              <a:spcBef>
                <a:spcPct val="0"/>
              </a:spcBef>
            </a:pPr>
            <a:r>
              <a:rPr lang="en-US" sz="3364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  ↓</a:t>
            </a:r>
          </a:p>
          <a:p>
            <a:pPr algn="ctr">
              <a:lnSpc>
                <a:spcPts val="4710"/>
              </a:lnSpc>
              <a:spcBef>
                <a:spcPct val="0"/>
              </a:spcBef>
            </a:pPr>
            <a:r>
              <a:rPr lang="en-US" sz="3364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[FastAPI Backend]</a:t>
            </a:r>
          </a:p>
          <a:p>
            <a:pPr algn="ctr">
              <a:lnSpc>
                <a:spcPts val="4710"/>
              </a:lnSpc>
              <a:spcBef>
                <a:spcPct val="0"/>
              </a:spcBef>
            </a:pPr>
            <a:r>
              <a:rPr lang="en-US" sz="3364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↓              ↓</a:t>
            </a:r>
          </a:p>
          <a:p>
            <a:pPr algn="ctr">
              <a:lnSpc>
                <a:spcPts val="4710"/>
              </a:lnSpc>
              <a:spcBef>
                <a:spcPct val="0"/>
              </a:spcBef>
            </a:pPr>
            <a:r>
              <a:rPr lang="en-US" sz="3364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[Customer]       [LLM Service]</a:t>
            </a:r>
          </a:p>
          <a:p>
            <a:pPr algn="ctr">
              <a:lnSpc>
                <a:spcPts val="4710"/>
              </a:lnSpc>
              <a:spcBef>
                <a:spcPct val="0"/>
              </a:spcBef>
            </a:pPr>
            <a:r>
              <a:rPr lang="en-US" sz="3364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 Service                          ↓      </a:t>
            </a:r>
          </a:p>
          <a:p>
            <a:pPr algn="ctr">
              <a:lnSpc>
                <a:spcPts val="4710"/>
              </a:lnSpc>
              <a:spcBef>
                <a:spcPct val="0"/>
              </a:spcBef>
            </a:pPr>
            <a:r>
              <a:rPr lang="en-US" sz="3364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    (FastMcp)            [Generated Email]</a:t>
            </a:r>
          </a:p>
          <a:p>
            <a:pPr algn="ctr">
              <a:lnSpc>
                <a:spcPts val="4710"/>
              </a:lnSpc>
              <a:spcBef>
                <a:spcPct val="0"/>
              </a:spcBef>
            </a:pPr>
            <a:r>
              <a:rPr lang="en-US" sz="3364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   ↓                                ↓</a:t>
            </a:r>
          </a:p>
          <a:p>
            <a:pPr algn="ctr">
              <a:lnSpc>
                <a:spcPts val="4710"/>
              </a:lnSpc>
              <a:spcBef>
                <a:spcPct val="0"/>
              </a:spcBef>
            </a:pPr>
            <a:r>
              <a:rPr lang="en-US" sz="3364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   [CSV Data]            [SMTP → Inbox]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31949" y="3038338"/>
            <a:ext cx="9756051" cy="562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React f</a:t>
            </a:r>
            <a:r>
              <a:rPr lang="en-US" sz="32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rontend handles user actions and sends requests to backend</a:t>
            </a:r>
          </a:p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FastAPI backend controls logic and manages all operations</a:t>
            </a:r>
          </a:p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Customer data is processed using Pandas before sending to AI</a:t>
            </a:r>
          </a:p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LLM generates personalized emails using selected customer data</a:t>
            </a:r>
          </a:p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SMTP service sends emails securely to customer inboxes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41136" y="4123923"/>
            <a:ext cx="13382450" cy="5795493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57027" y="364019"/>
            <a:ext cx="14729259" cy="7448282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705990" y="-684353"/>
            <a:ext cx="3582010" cy="4265245"/>
          </a:xfrm>
          <a:custGeom>
            <a:avLst/>
            <a:gdLst/>
            <a:ahLst/>
            <a:cxnLst/>
            <a:rect r="r" b="b" t="t" l="l"/>
            <a:pathLst>
              <a:path h="4265245" w="3582010">
                <a:moveTo>
                  <a:pt x="0" y="0"/>
                </a:moveTo>
                <a:lnTo>
                  <a:pt x="3582010" y="0"/>
                </a:lnTo>
                <a:lnTo>
                  <a:pt x="3582010" y="4265245"/>
                </a:lnTo>
                <a:lnTo>
                  <a:pt x="0" y="4265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66666" y="6691314"/>
            <a:ext cx="2053877" cy="4179069"/>
          </a:xfrm>
          <a:custGeom>
            <a:avLst/>
            <a:gdLst/>
            <a:ahLst/>
            <a:cxnLst/>
            <a:rect r="r" b="b" t="t" l="l"/>
            <a:pathLst>
              <a:path h="4179069" w="2053877">
                <a:moveTo>
                  <a:pt x="2053877" y="4179069"/>
                </a:moveTo>
                <a:lnTo>
                  <a:pt x="0" y="4179069"/>
                </a:lnTo>
                <a:lnTo>
                  <a:pt x="0" y="0"/>
                </a:lnTo>
                <a:lnTo>
                  <a:pt x="2053877" y="0"/>
                </a:lnTo>
                <a:lnTo>
                  <a:pt x="2053877" y="417906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2944" y="7862015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964742" y="-856982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12633" y="1181570"/>
            <a:ext cx="8462734" cy="162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6"/>
              </a:lnSpc>
            </a:pPr>
            <a:r>
              <a:rPr lang="en-US" b="true" sz="8797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Sample Dataset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4355" y="3485642"/>
            <a:ext cx="12530052" cy="4014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2"/>
              </a:lnSpc>
            </a:pPr>
            <a:r>
              <a:rPr lang="en-US" sz="3215" spc="183" b="true">
                <a:solidFill>
                  <a:srgbClr val="605440"/>
                </a:solidFill>
                <a:latin typeface="Poppins Bold"/>
                <a:ea typeface="Poppins Bold"/>
                <a:cs typeface="Poppins Bold"/>
                <a:sym typeface="Poppins Bold"/>
              </a:rPr>
              <a:t>Cu</a:t>
            </a:r>
            <a:r>
              <a:rPr lang="en-US" b="true" sz="3215" spc="183">
                <a:solidFill>
                  <a:srgbClr val="605440"/>
                </a:solidFill>
                <a:latin typeface="Poppins Bold"/>
                <a:ea typeface="Poppins Bold"/>
                <a:cs typeface="Poppins Bold"/>
                <a:sym typeface="Poppins Bold"/>
              </a:rPr>
              <a:t>stomer Dataset</a:t>
            </a:r>
          </a:p>
          <a:p>
            <a:pPr algn="l" marL="694294" indent="-347147" lvl="1">
              <a:lnSpc>
                <a:spcPts val="4502"/>
              </a:lnSpc>
              <a:buFont typeface="Arial"/>
              <a:buChar char="•"/>
            </a:pPr>
            <a:r>
              <a:rPr lang="en-US" sz="3215" spc="183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99,457 retail customers from CSV</a:t>
            </a:r>
          </a:p>
          <a:p>
            <a:pPr algn="l" marL="694294" indent="-347147" lvl="1">
              <a:lnSpc>
                <a:spcPts val="4502"/>
              </a:lnSpc>
              <a:buFont typeface="Arial"/>
              <a:buChar char="•"/>
            </a:pPr>
            <a:r>
              <a:rPr lang="en-US" sz="3215" spc="183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</a:p>
          <a:p>
            <a:pPr algn="l" marL="1388588" indent="-462863" lvl="2">
              <a:lnSpc>
                <a:spcPts val="4502"/>
              </a:lnSpc>
              <a:buFont typeface="Arial"/>
              <a:buChar char="⚬"/>
            </a:pPr>
            <a:r>
              <a:rPr lang="en-US" sz="3215" spc="183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customer_id, age, category, total_orders, email</a:t>
            </a:r>
          </a:p>
          <a:p>
            <a:pPr algn="l" marL="1388588" indent="-462863" lvl="2">
              <a:lnSpc>
                <a:spcPts val="4502"/>
              </a:lnSpc>
              <a:buFont typeface="Arial"/>
              <a:buChar char="⚬"/>
            </a:pPr>
            <a:r>
              <a:rPr lang="en-US" sz="3215" spc="183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C0011381, 20, Clothing, 1, user@gmail.com</a:t>
            </a:r>
          </a:p>
          <a:p>
            <a:pPr algn="l" marL="694294" indent="-347147" lvl="1">
              <a:lnSpc>
                <a:spcPts val="4502"/>
              </a:lnSpc>
              <a:buFont typeface="Arial"/>
              <a:buChar char="•"/>
            </a:pPr>
            <a:r>
              <a:rPr lang="en-US" sz="3215" spc="183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Users can upload their own CSV</a:t>
            </a:r>
          </a:p>
          <a:p>
            <a:pPr algn="l" marL="694294" indent="-347147" lvl="1">
              <a:lnSpc>
                <a:spcPts val="4502"/>
              </a:lnSpc>
              <a:buFont typeface="Arial"/>
              <a:buChar char="•"/>
            </a:pPr>
            <a:r>
              <a:rPr lang="en-US" sz="3215" spc="183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Default dataset remains unchanged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41136" y="4123923"/>
            <a:ext cx="13382450" cy="5795493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57027" y="364019"/>
            <a:ext cx="14729259" cy="7448282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705990" y="-684353"/>
            <a:ext cx="3582010" cy="4265245"/>
          </a:xfrm>
          <a:custGeom>
            <a:avLst/>
            <a:gdLst/>
            <a:ahLst/>
            <a:cxnLst/>
            <a:rect r="r" b="b" t="t" l="l"/>
            <a:pathLst>
              <a:path h="4265245" w="3582010">
                <a:moveTo>
                  <a:pt x="0" y="0"/>
                </a:moveTo>
                <a:lnTo>
                  <a:pt x="3582010" y="0"/>
                </a:lnTo>
                <a:lnTo>
                  <a:pt x="3582010" y="4265245"/>
                </a:lnTo>
                <a:lnTo>
                  <a:pt x="0" y="4265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66666" y="6691314"/>
            <a:ext cx="2053877" cy="4179069"/>
          </a:xfrm>
          <a:custGeom>
            <a:avLst/>
            <a:gdLst/>
            <a:ahLst/>
            <a:cxnLst/>
            <a:rect r="r" b="b" t="t" l="l"/>
            <a:pathLst>
              <a:path h="4179069" w="2053877">
                <a:moveTo>
                  <a:pt x="2053877" y="4179069"/>
                </a:moveTo>
                <a:lnTo>
                  <a:pt x="0" y="4179069"/>
                </a:lnTo>
                <a:lnTo>
                  <a:pt x="0" y="0"/>
                </a:lnTo>
                <a:lnTo>
                  <a:pt x="2053877" y="0"/>
                </a:lnTo>
                <a:lnTo>
                  <a:pt x="2053877" y="417906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2944" y="7862015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964742" y="-856982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477714" y="3255277"/>
          <a:ext cx="13111345" cy="5248275"/>
        </p:xfrm>
        <a:graphic>
          <a:graphicData uri="http://schemas.openxmlformats.org/drawingml/2006/table">
            <a:tbl>
              <a:tblPr/>
              <a:tblGrid>
                <a:gridCol w="4370448"/>
                <a:gridCol w="4370448"/>
                <a:gridCol w="4370448"/>
              </a:tblGrid>
              <a:tr h="12647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3899" b="true">
                          <a:solidFill>
                            <a:srgbClr val="000000"/>
                          </a:solidFill>
                          <a:latin typeface="The Seasons Bold"/>
                          <a:ea typeface="The Seasons Bold"/>
                          <a:cs typeface="The Seasons Bold"/>
                          <a:sym typeface="The Seasons Bold"/>
                        </a:rPr>
                        <a:t>Segment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3899" b="true">
                          <a:solidFill>
                            <a:srgbClr val="000000"/>
                          </a:solidFill>
                          <a:latin typeface="The Seasons Bold"/>
                          <a:ea typeface="The Seasons Bold"/>
                          <a:cs typeface="The Seasons Bold"/>
                          <a:sym typeface="The Seasons Bold"/>
                        </a:rPr>
                        <a:t>Rule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3899" b="true">
                          <a:solidFill>
                            <a:srgbClr val="000000"/>
                          </a:solidFill>
                          <a:latin typeface="The Seasons Bold"/>
                          <a:ea typeface="The Seasons Bold"/>
                          <a:cs typeface="The Seasons Bold"/>
                          <a:sym typeface="The Seasons Bold"/>
                        </a:rPr>
                        <a:t>Color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58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High Value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Spend ≥ 10,000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Purple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58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Recent Buyer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Purchase within 14 days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Blue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58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Active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Purchase within 30 days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Green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58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Inactive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No purchase for 60+ days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Red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815456" y="1181570"/>
            <a:ext cx="14008819" cy="162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6"/>
              </a:lnSpc>
            </a:pPr>
            <a:r>
              <a:rPr lang="en-US" b="true" sz="8797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Customer Segmentation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41136" y="4123923"/>
            <a:ext cx="13382450" cy="5795493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57027" y="364019"/>
            <a:ext cx="14729259" cy="7448282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true" flipV="true" rot="0">
            <a:off x="66666" y="6691314"/>
            <a:ext cx="2053877" cy="4179069"/>
          </a:xfrm>
          <a:custGeom>
            <a:avLst/>
            <a:gdLst/>
            <a:ahLst/>
            <a:cxnLst/>
            <a:rect r="r" b="b" t="t" l="l"/>
            <a:pathLst>
              <a:path h="4179069" w="2053877">
                <a:moveTo>
                  <a:pt x="2053877" y="4179069"/>
                </a:moveTo>
                <a:lnTo>
                  <a:pt x="0" y="4179069"/>
                </a:lnTo>
                <a:lnTo>
                  <a:pt x="0" y="0"/>
                </a:lnTo>
                <a:lnTo>
                  <a:pt x="2053877" y="0"/>
                </a:lnTo>
                <a:lnTo>
                  <a:pt x="2053877" y="41790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52944" y="7862015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964742" y="-856982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22271" y="474148"/>
            <a:ext cx="16745720" cy="168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6"/>
              </a:lnSpc>
            </a:pPr>
            <a:r>
              <a:rPr lang="en-US" b="true" sz="8797" spc="501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AI Custom</a:t>
            </a:r>
            <a:r>
              <a:rPr lang="en-US" b="true" sz="8797" spc="501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er Intelligence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20543" y="2152306"/>
            <a:ext cx="12867284" cy="7310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sz="3199" spc="18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Flow:</a:t>
            </a:r>
          </a:p>
          <a:p>
            <a:pPr algn="l" marL="690876" indent="-345438" lvl="1">
              <a:lnSpc>
                <a:spcPts val="4479"/>
              </a:lnSpc>
              <a:buAutoNum type="arabicPeriod" startAt="1"/>
            </a:pPr>
            <a:r>
              <a:rPr lang="en-US" sz="3199" spc="18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User selects customer</a:t>
            </a:r>
          </a:p>
          <a:p>
            <a:pPr algn="l" marL="690876" indent="-345438" lvl="1">
              <a:lnSpc>
                <a:spcPts val="4479"/>
              </a:lnSpc>
              <a:buAutoNum type="arabicPeriod" startAt="1"/>
            </a:pPr>
            <a:r>
              <a:rPr lang="en-US" sz="3199" spc="18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API call → /customers/{id}/summary</a:t>
            </a:r>
          </a:p>
          <a:p>
            <a:pPr algn="l" marL="690876" indent="-345438" lvl="1">
              <a:lnSpc>
                <a:spcPts val="4479"/>
              </a:lnSpc>
              <a:buAutoNum type="arabicPeriod" startAt="1"/>
            </a:pPr>
            <a:r>
              <a:rPr lang="en-US" sz="3199" spc="18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AI generates insights</a:t>
            </a:r>
          </a:p>
          <a:p>
            <a:pPr algn="l">
              <a:lnSpc>
                <a:spcPts val="4479"/>
              </a:lnSpc>
            </a:pPr>
            <a:r>
              <a:rPr lang="en-US" sz="3199" spc="18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Fields: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 spc="18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Value Tier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 spc="18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Summary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 spc="18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Sales Opportunity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 spc="18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Email Type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 spc="18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Tone</a:t>
            </a:r>
          </a:p>
          <a:p>
            <a:pPr algn="l">
              <a:lnSpc>
                <a:spcPts val="4479"/>
              </a:lnSpc>
            </a:pPr>
            <a:r>
              <a:rPr lang="en-US" sz="3199" spc="18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99" spc="18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“Apply AI Suggestions” auto-fills email settings</a:t>
            </a:r>
          </a:p>
          <a:p>
            <a:pPr algn="l">
              <a:lnSpc>
                <a:spcPts val="447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35442" y="4472457"/>
            <a:ext cx="13382450" cy="5795493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57027" y="364019"/>
            <a:ext cx="14729259" cy="7448282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true" flipV="true" rot="0">
            <a:off x="-1281430" y="6981441"/>
            <a:ext cx="2053877" cy="4179069"/>
          </a:xfrm>
          <a:custGeom>
            <a:avLst/>
            <a:gdLst/>
            <a:ahLst/>
            <a:cxnLst/>
            <a:rect r="r" b="b" t="t" l="l"/>
            <a:pathLst>
              <a:path h="4179069" w="2053877">
                <a:moveTo>
                  <a:pt x="2053876" y="4179068"/>
                </a:moveTo>
                <a:lnTo>
                  <a:pt x="0" y="4179068"/>
                </a:lnTo>
                <a:lnTo>
                  <a:pt x="0" y="0"/>
                </a:lnTo>
                <a:lnTo>
                  <a:pt x="2053876" y="0"/>
                </a:lnTo>
                <a:lnTo>
                  <a:pt x="2053876" y="417906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958077" y="-1141274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83033" y="1540481"/>
            <a:ext cx="7996679" cy="8540144"/>
          </a:xfrm>
          <a:custGeom>
            <a:avLst/>
            <a:gdLst/>
            <a:ahLst/>
            <a:cxnLst/>
            <a:rect r="r" b="b" t="t" l="l"/>
            <a:pathLst>
              <a:path h="8540144" w="7996679">
                <a:moveTo>
                  <a:pt x="0" y="0"/>
                </a:moveTo>
                <a:lnTo>
                  <a:pt x="7996680" y="0"/>
                </a:lnTo>
                <a:lnTo>
                  <a:pt x="7996680" y="8540144"/>
                </a:lnTo>
                <a:lnTo>
                  <a:pt x="0" y="85401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3992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57027" y="54578"/>
            <a:ext cx="9440311" cy="168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6"/>
              </a:lnSpc>
            </a:pPr>
            <a:r>
              <a:rPr lang="en-US" b="true" sz="8797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Email Generation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760855"/>
            <a:ext cx="8888088" cy="731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Email</a:t>
            </a:r>
            <a:r>
              <a:rPr lang="en-US" sz="3200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 Engine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6 Types: Upsell, Follow-Up, Cold Outreach, Promotion, Re-engagement, Thank You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3 Tones: Professional, Friendly, Persuasive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Prompt: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3200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rite a [type] email. Tone: [tone].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Customer: [name], [age], [category].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Output only email body.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Only selected data sent to AI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Secure + optimized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41136" y="4123923"/>
            <a:ext cx="13382450" cy="5795493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57027" y="364019"/>
            <a:ext cx="14729259" cy="7448282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705990" y="-684353"/>
            <a:ext cx="3582010" cy="4265245"/>
          </a:xfrm>
          <a:custGeom>
            <a:avLst/>
            <a:gdLst/>
            <a:ahLst/>
            <a:cxnLst/>
            <a:rect r="r" b="b" t="t" l="l"/>
            <a:pathLst>
              <a:path h="4265245" w="3582010">
                <a:moveTo>
                  <a:pt x="0" y="0"/>
                </a:moveTo>
                <a:lnTo>
                  <a:pt x="3582010" y="0"/>
                </a:lnTo>
                <a:lnTo>
                  <a:pt x="3582010" y="4265245"/>
                </a:lnTo>
                <a:lnTo>
                  <a:pt x="0" y="4265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66666" y="6691314"/>
            <a:ext cx="2053877" cy="4179069"/>
          </a:xfrm>
          <a:custGeom>
            <a:avLst/>
            <a:gdLst/>
            <a:ahLst/>
            <a:cxnLst/>
            <a:rect r="r" b="b" t="t" l="l"/>
            <a:pathLst>
              <a:path h="4179069" w="2053877">
                <a:moveTo>
                  <a:pt x="2053877" y="4179069"/>
                </a:moveTo>
                <a:lnTo>
                  <a:pt x="0" y="4179069"/>
                </a:lnTo>
                <a:lnTo>
                  <a:pt x="0" y="0"/>
                </a:lnTo>
                <a:lnTo>
                  <a:pt x="2053877" y="0"/>
                </a:lnTo>
                <a:lnTo>
                  <a:pt x="2053877" y="417906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2944" y="7862015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964742" y="-856982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39235" y="504628"/>
            <a:ext cx="10409531" cy="162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6"/>
              </a:lnSpc>
            </a:pPr>
            <a:r>
              <a:rPr lang="en-US" b="true" sz="8797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Caching &amp; Fallback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46119" y="2927551"/>
            <a:ext cx="14841961" cy="5609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0808" indent="-285404" lvl="1">
              <a:lnSpc>
                <a:spcPts val="3701"/>
              </a:lnSpc>
              <a:buFont typeface="Arial"/>
              <a:buChar char="•"/>
            </a:pPr>
            <a:r>
              <a:rPr lang="en-US" b="true" sz="2643" spc="150">
                <a:solidFill>
                  <a:srgbClr val="443B2B"/>
                </a:solidFill>
                <a:latin typeface="Poppins Bold"/>
                <a:ea typeface="Poppins Bold"/>
                <a:cs typeface="Poppins Bold"/>
                <a:sym typeface="Poppins Bold"/>
              </a:rPr>
              <a:t>Layer 1 — In-Memory Cache</a:t>
            </a:r>
          </a:p>
          <a:p>
            <a:pPr algn="l" marL="1141617" indent="-380539" lvl="2">
              <a:lnSpc>
                <a:spcPts val="3701"/>
              </a:lnSpc>
              <a:buFont typeface="Arial"/>
              <a:buChar char="⚬"/>
            </a:pPr>
            <a:r>
              <a:rPr lang="en-US" sz="2643" spc="150">
                <a:solidFill>
                  <a:srgbClr val="443B2B"/>
                </a:solidFill>
                <a:latin typeface="Poppins"/>
                <a:ea typeface="Poppins"/>
                <a:cs typeface="Poppins"/>
                <a:sym typeface="Poppins"/>
              </a:rPr>
              <a:t>Cache key: (customer_id, email_type, tone)</a:t>
            </a:r>
          </a:p>
          <a:p>
            <a:pPr algn="l" marL="1141617" indent="-380539" lvl="2">
              <a:lnSpc>
                <a:spcPts val="3701"/>
              </a:lnSpc>
              <a:buFont typeface="Arial"/>
              <a:buChar char="⚬"/>
            </a:pPr>
            <a:r>
              <a:rPr lang="en-US" sz="2643" spc="150">
                <a:solidFill>
                  <a:srgbClr val="443B2B"/>
                </a:solidFill>
                <a:latin typeface="Poppins"/>
                <a:ea typeface="Poppins"/>
                <a:cs typeface="Poppins"/>
                <a:sym typeface="Poppins"/>
              </a:rPr>
              <a:t>Repeat request returns instantly with zero LLM cost</a:t>
            </a:r>
          </a:p>
          <a:p>
            <a:pPr algn="l" marL="1141617" indent="-380539" lvl="2">
              <a:lnSpc>
                <a:spcPts val="3701"/>
              </a:lnSpc>
              <a:buFont typeface="Arial"/>
              <a:buChar char="⚬"/>
            </a:pPr>
            <a:r>
              <a:rPr lang="en-US" sz="2643" spc="150">
                <a:solidFill>
                  <a:srgbClr val="443B2B"/>
                </a:solidFill>
                <a:latin typeface="Poppins"/>
                <a:ea typeface="Poppins"/>
                <a:cs typeface="Poppins"/>
                <a:sym typeface="Poppins"/>
              </a:rPr>
              <a:t>Separate summary cache keyed by customer_id</a:t>
            </a:r>
          </a:p>
          <a:p>
            <a:pPr algn="l" marL="570808" indent="-285404" lvl="1">
              <a:lnSpc>
                <a:spcPts val="3701"/>
              </a:lnSpc>
              <a:buFont typeface="Arial"/>
              <a:buChar char="•"/>
            </a:pPr>
            <a:r>
              <a:rPr lang="en-US" b="true" sz="2643" spc="150">
                <a:solidFill>
                  <a:srgbClr val="443B2B"/>
                </a:solidFill>
                <a:latin typeface="Poppins Bold"/>
                <a:ea typeface="Poppins Bold"/>
                <a:cs typeface="Poppins Bold"/>
                <a:sym typeface="Poppins Bold"/>
              </a:rPr>
              <a:t>Layer 2 — Rule-Based Fallback</a:t>
            </a:r>
          </a:p>
          <a:p>
            <a:pPr algn="l" marL="1141617" indent="-380539" lvl="2">
              <a:lnSpc>
                <a:spcPts val="3701"/>
              </a:lnSpc>
              <a:buFont typeface="Arial"/>
              <a:buChar char="⚬"/>
            </a:pPr>
            <a:r>
              <a:rPr lang="en-US" sz="2643" spc="150">
                <a:solidFill>
                  <a:srgbClr val="443B2B"/>
                </a:solidFill>
                <a:latin typeface="Poppins"/>
                <a:ea typeface="Poppins"/>
                <a:cs typeface="Poppins"/>
                <a:sym typeface="Poppins"/>
              </a:rPr>
              <a:t>On LLM failure (quota/network/key), rule-based template runs automatically</a:t>
            </a:r>
          </a:p>
          <a:p>
            <a:pPr algn="l" marL="1141617" indent="-380539" lvl="2">
              <a:lnSpc>
                <a:spcPts val="3701"/>
              </a:lnSpc>
              <a:buFont typeface="Arial"/>
              <a:buChar char="⚬"/>
            </a:pPr>
            <a:r>
              <a:rPr lang="en-US" sz="2643" spc="150">
                <a:solidFill>
                  <a:srgbClr val="443B2B"/>
                </a:solidFill>
                <a:latin typeface="Poppins"/>
                <a:ea typeface="Poppins"/>
                <a:cs typeface="Poppins"/>
                <a:sym typeface="Poppins"/>
              </a:rPr>
              <a:t>Dynamic fill from customer attributes</a:t>
            </a:r>
          </a:p>
          <a:p>
            <a:pPr algn="l" marL="1141617" indent="-380539" lvl="2">
              <a:lnSpc>
                <a:spcPts val="3701"/>
              </a:lnSpc>
              <a:buFont typeface="Arial"/>
              <a:buChar char="⚬"/>
            </a:pPr>
            <a:r>
              <a:rPr lang="en-US" sz="2643" spc="150">
                <a:solidFill>
                  <a:srgbClr val="443B2B"/>
                </a:solidFill>
                <a:latin typeface="Poppins"/>
                <a:ea typeface="Poppins"/>
                <a:cs typeface="Poppins"/>
                <a:sym typeface="Poppins"/>
              </a:rPr>
              <a:t>User still receives valid output</a:t>
            </a:r>
          </a:p>
          <a:p>
            <a:pPr algn="l" marL="570808" indent="-285404" lvl="1">
              <a:lnSpc>
                <a:spcPts val="3701"/>
              </a:lnSpc>
              <a:buFont typeface="Arial"/>
              <a:buChar char="•"/>
            </a:pPr>
            <a:r>
              <a:rPr lang="en-US" b="true" sz="2643" spc="150">
                <a:solidFill>
                  <a:srgbClr val="443B2B"/>
                </a:solidFill>
                <a:latin typeface="Poppins Bold"/>
                <a:ea typeface="Poppins Bold"/>
                <a:cs typeface="Poppins Bold"/>
                <a:sym typeface="Poppins Bold"/>
              </a:rPr>
              <a:t>Layer 3 — Demo Mode</a:t>
            </a:r>
          </a:p>
          <a:p>
            <a:pPr algn="l" marL="1141617" indent="-380539" lvl="2">
              <a:lnSpc>
                <a:spcPts val="3701"/>
              </a:lnSpc>
              <a:buFont typeface="Arial"/>
              <a:buChar char="⚬"/>
            </a:pPr>
            <a:r>
              <a:rPr lang="en-US" sz="2643" spc="150">
                <a:solidFill>
                  <a:srgbClr val="443B2B"/>
                </a:solidFill>
                <a:latin typeface="Poppins"/>
                <a:ea typeface="Poppins"/>
                <a:cs typeface="Poppins"/>
                <a:sym typeface="Poppins"/>
              </a:rPr>
              <a:t>DEMO_MODE=true bypasses all LLM calls</a:t>
            </a:r>
          </a:p>
          <a:p>
            <a:pPr algn="l" marL="1141617" indent="-380539" lvl="2">
              <a:lnSpc>
                <a:spcPts val="3701"/>
              </a:lnSpc>
              <a:buFont typeface="Arial"/>
              <a:buChar char="⚬"/>
            </a:pPr>
            <a:r>
              <a:rPr lang="en-US" sz="2643" spc="150">
                <a:solidFill>
                  <a:srgbClr val="443B2B"/>
                </a:solidFill>
                <a:latin typeface="Poppins"/>
                <a:ea typeface="Poppins"/>
                <a:cs typeface="Poppins"/>
                <a:sym typeface="Poppins"/>
              </a:rPr>
              <a:t>App works fully offline for demos/testing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41136" y="4123923"/>
            <a:ext cx="13382450" cy="5795493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57027" y="364019"/>
            <a:ext cx="14729259" cy="7448282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705990" y="-684353"/>
            <a:ext cx="3582010" cy="4265245"/>
          </a:xfrm>
          <a:custGeom>
            <a:avLst/>
            <a:gdLst/>
            <a:ahLst/>
            <a:cxnLst/>
            <a:rect r="r" b="b" t="t" l="l"/>
            <a:pathLst>
              <a:path h="4265245" w="3582010">
                <a:moveTo>
                  <a:pt x="0" y="0"/>
                </a:moveTo>
                <a:lnTo>
                  <a:pt x="3582010" y="0"/>
                </a:lnTo>
                <a:lnTo>
                  <a:pt x="3582010" y="4265245"/>
                </a:lnTo>
                <a:lnTo>
                  <a:pt x="0" y="4265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026938" y="7168766"/>
            <a:ext cx="2053877" cy="4179069"/>
          </a:xfrm>
          <a:custGeom>
            <a:avLst/>
            <a:gdLst/>
            <a:ahLst/>
            <a:cxnLst/>
            <a:rect r="r" b="b" t="t" l="l"/>
            <a:pathLst>
              <a:path h="4179069" w="2053877">
                <a:moveTo>
                  <a:pt x="2053876" y="4179068"/>
                </a:moveTo>
                <a:lnTo>
                  <a:pt x="0" y="4179068"/>
                </a:lnTo>
                <a:lnTo>
                  <a:pt x="0" y="0"/>
                </a:lnTo>
                <a:lnTo>
                  <a:pt x="2053876" y="0"/>
                </a:lnTo>
                <a:lnTo>
                  <a:pt x="2053876" y="41790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2944" y="7862015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984486" y="-2453412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6" y="0"/>
                </a:lnTo>
                <a:lnTo>
                  <a:pt x="46117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788466" y="261290"/>
            <a:ext cx="8462734" cy="168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6"/>
              </a:lnSpc>
            </a:pPr>
            <a:r>
              <a:rPr lang="en-US" b="true" sz="8797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Fr</a:t>
            </a:r>
            <a:r>
              <a:rPr lang="en-US" b="true" sz="8797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ontend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71190" y="1876159"/>
            <a:ext cx="11237502" cy="788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b="true" sz="2499" spc="142">
                <a:solidFill>
                  <a:srgbClr val="605440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List (Left Panel)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Search by name, email, or customer ID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Filters: category, segment, min/max spend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Combined filter logic handled in one backend search query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Checkbox multi-select for bulk mode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Pagination: 50 customers per page</a:t>
            </a:r>
          </a:p>
          <a:p>
            <a:pPr algn="l">
              <a:lnSpc>
                <a:spcPts val="3499"/>
              </a:lnSpc>
            </a:pPr>
            <a:r>
              <a:rPr lang="en-US" b="true" sz="2499" spc="142">
                <a:solidFill>
                  <a:srgbClr val="605440"/>
                </a:solidFill>
                <a:latin typeface="Poppins Bold"/>
                <a:ea typeface="Poppins Bold"/>
                <a:cs typeface="Poppins Bold"/>
                <a:sym typeface="Poppins Bold"/>
              </a:rPr>
              <a:t>Email Composer (Right Panel)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Controls for email type and tone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AI suggestions auto-fill using “Apply AI Suggestions”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Single Mode: select customer → generate email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Bulk Mode: multi-select → generate all → collapsible previews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Options to copy, export JSON, and send live emails</a:t>
            </a:r>
          </a:p>
          <a:p>
            <a:pPr algn="l">
              <a:lnSpc>
                <a:spcPts val="3499"/>
              </a:lnSpc>
            </a:pPr>
            <a:r>
              <a:rPr lang="en-US" b="true" sz="2499" spc="142">
                <a:solidFill>
                  <a:srgbClr val="605440"/>
                </a:solidFill>
                <a:latin typeface="Poppins Bold"/>
                <a:ea typeface="Poppins Bold"/>
                <a:cs typeface="Poppins Bold"/>
                <a:sym typeface="Poppins Bold"/>
              </a:rPr>
              <a:t>Intelligence Panel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Loads automatically when a customer is selected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Displays AI or Rule-based source badge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9050" y="8487500"/>
            <a:ext cx="13382450" cy="5795493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37977" y="148014"/>
            <a:ext cx="14729259" cy="7448282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3099982" y="-2666530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12633" y="97319"/>
            <a:ext cx="9440311" cy="168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6"/>
              </a:lnSpc>
            </a:pPr>
            <a:r>
              <a:rPr lang="en-US" b="true" sz="8797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Live Email Sending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5882" y="1693137"/>
            <a:ext cx="10521119" cy="843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Live Email Delivery via SMTP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Flow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User reviews generated draft(s)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Clicks Send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Frontend sends drafts to /send-email/ (aliases supported)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Backend opens SMTP connection using starttls()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Sends each draft to customer inbox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Response Includes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Sent count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Failed count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Error details for failed addresses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Compatibility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Works with Gmail, Outlook, or any standard SMTP server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28270" y="4386371"/>
            <a:ext cx="7459730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SMTP Configuration (.env)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SMTP_HOST=smtp.gmail.com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SMTP_PORT=587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SMTP_USER=yourmail@gmail.com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SMTP_PASS=your_app_password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SMTP_FROM=yourmail@gmail.com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705990" y="-684353"/>
            <a:ext cx="3582010" cy="4265245"/>
          </a:xfrm>
          <a:custGeom>
            <a:avLst/>
            <a:gdLst/>
            <a:ahLst/>
            <a:cxnLst/>
            <a:rect r="r" b="b" t="t" l="l"/>
            <a:pathLst>
              <a:path h="4265245" w="3582010">
                <a:moveTo>
                  <a:pt x="0" y="0"/>
                </a:moveTo>
                <a:lnTo>
                  <a:pt x="3582010" y="0"/>
                </a:lnTo>
                <a:lnTo>
                  <a:pt x="3582010" y="4265245"/>
                </a:lnTo>
                <a:lnTo>
                  <a:pt x="0" y="4265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41136" y="4123923"/>
            <a:ext cx="13382450" cy="5795493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57027" y="364019"/>
            <a:ext cx="14729259" cy="7448282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705990" y="-684353"/>
            <a:ext cx="3582010" cy="4265245"/>
          </a:xfrm>
          <a:custGeom>
            <a:avLst/>
            <a:gdLst/>
            <a:ahLst/>
            <a:cxnLst/>
            <a:rect r="r" b="b" t="t" l="l"/>
            <a:pathLst>
              <a:path h="4265245" w="3582010">
                <a:moveTo>
                  <a:pt x="0" y="0"/>
                </a:moveTo>
                <a:lnTo>
                  <a:pt x="3582010" y="0"/>
                </a:lnTo>
                <a:lnTo>
                  <a:pt x="3582010" y="4265245"/>
                </a:lnTo>
                <a:lnTo>
                  <a:pt x="0" y="4265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026938" y="7168766"/>
            <a:ext cx="2053877" cy="4179069"/>
          </a:xfrm>
          <a:custGeom>
            <a:avLst/>
            <a:gdLst/>
            <a:ahLst/>
            <a:cxnLst/>
            <a:rect r="r" b="b" t="t" l="l"/>
            <a:pathLst>
              <a:path h="4179069" w="2053877">
                <a:moveTo>
                  <a:pt x="2053876" y="4179068"/>
                </a:moveTo>
                <a:lnTo>
                  <a:pt x="0" y="4179068"/>
                </a:lnTo>
                <a:lnTo>
                  <a:pt x="0" y="0"/>
                </a:lnTo>
                <a:lnTo>
                  <a:pt x="2053876" y="0"/>
                </a:lnTo>
                <a:lnTo>
                  <a:pt x="2053876" y="41790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2944" y="7862015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984486" y="-2453412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6" y="0"/>
                </a:lnTo>
                <a:lnTo>
                  <a:pt x="46117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784151" y="2276025"/>
          <a:ext cx="14712844" cy="6400800"/>
        </p:xfrm>
        <a:graphic>
          <a:graphicData uri="http://schemas.openxmlformats.org/drawingml/2006/table">
            <a:tbl>
              <a:tblPr/>
              <a:tblGrid>
                <a:gridCol w="4904281"/>
                <a:gridCol w="4904281"/>
                <a:gridCol w="4904281"/>
              </a:tblGrid>
              <a:tr h="8092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00000"/>
                          </a:solidFill>
                          <a:latin typeface="The Seasons Bold"/>
                          <a:ea typeface="The Seasons Bold"/>
                          <a:cs typeface="The Seasons Bold"/>
                          <a:sym typeface="The Seasons Bold"/>
                        </a:rPr>
                        <a:t>Method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00000"/>
                          </a:solidFill>
                          <a:latin typeface="The Seasons Bold"/>
                          <a:ea typeface="The Seasons Bold"/>
                          <a:cs typeface="The Seasons Bold"/>
                          <a:sym typeface="The Seasons Bold"/>
                        </a:rPr>
                        <a:t>Endpoint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00000"/>
                          </a:solidFill>
                          <a:latin typeface="The Seasons Bold"/>
                          <a:ea typeface="The Seasons Bold"/>
                          <a:cs typeface="The Seasons Bold"/>
                          <a:sym typeface="The Seasons Bold"/>
                        </a:rPr>
                        <a:t>Purpose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7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GET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/customers/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List customers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7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GET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/customers/search/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Filter/search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7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GET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/customers/{id}/summary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AI insights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7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POST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/generate-email/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Single email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7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POST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/generate-email/bulk/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Bulk emails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7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POST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/send-email/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Send emails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7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POST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/upload-csv/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The Seasons"/>
                          <a:ea typeface="The Seasons"/>
                          <a:cs typeface="The Seasons"/>
                          <a:sym typeface="The Seasons"/>
                        </a:rPr>
                        <a:t>Upload dataset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4788466" y="261290"/>
            <a:ext cx="8462734" cy="162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6"/>
              </a:lnSpc>
            </a:pPr>
            <a:r>
              <a:rPr lang="en-US" b="true" sz="8797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API Endp</a:t>
            </a:r>
            <a:r>
              <a:rPr lang="en-US" b="true" sz="8797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oints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21632" y="9004300"/>
            <a:ext cx="164473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8843" y="1463981"/>
            <a:ext cx="9362777" cy="854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483D2A"/>
                </a:solidFill>
                <a:latin typeface="Poppins Bold"/>
                <a:ea typeface="Poppins Bold"/>
                <a:cs typeface="Poppins Bold"/>
                <a:sym typeface="Poppins Bold"/>
              </a:rPr>
              <a:t>What was achieved: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End-to-end GenAI workflow: selection -&gt; intelligence -&gt; generation -&gt; delivery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99,457 customers searchable/filterable quickly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Live SMTP delivery working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Robust fallback path without API keys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Caching removes repeat LLM calls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483D2A"/>
                </a:solidFill>
                <a:latin typeface="Poppins Bold"/>
                <a:ea typeface="Poppins Bold"/>
                <a:cs typeface="Poppins Bold"/>
                <a:sym typeface="Poppins Bold"/>
              </a:rPr>
              <a:t>Key learnings: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Prompt engineering for structured + creative outputs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Multi-provider abstraction with one SDK style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FastAPI + React integration in production-like flow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In-memory caching for latency/cost optimization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55667" y="225579"/>
            <a:ext cx="11176666" cy="1219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9"/>
              </a:lnSpc>
            </a:pPr>
            <a:r>
              <a:rPr lang="en-US" b="true" sz="6599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</a:t>
            </a:r>
            <a:r>
              <a:rPr lang="en-US" b="true" sz="6599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Results &amp; </a:t>
            </a:r>
            <a:r>
              <a:rPr lang="en-US" b="true" sz="6599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Future Sc</a:t>
            </a:r>
            <a:r>
              <a:rPr lang="en-US" b="true" sz="6599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ope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705271" y="-1065669"/>
            <a:ext cx="3582010" cy="4265245"/>
          </a:xfrm>
          <a:custGeom>
            <a:avLst/>
            <a:gdLst/>
            <a:ahLst/>
            <a:cxnLst/>
            <a:rect r="r" b="b" t="t" l="l"/>
            <a:pathLst>
              <a:path h="4265245" w="3582010">
                <a:moveTo>
                  <a:pt x="0" y="0"/>
                </a:moveTo>
                <a:lnTo>
                  <a:pt x="3582010" y="0"/>
                </a:lnTo>
                <a:lnTo>
                  <a:pt x="3582010" y="4265246"/>
                </a:lnTo>
                <a:lnTo>
                  <a:pt x="0" y="4265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903759" y="2911906"/>
            <a:ext cx="6355541" cy="374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483D2A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scope: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Open-rate tracking and A/B testing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Scheduled delivery optimization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HTML-branded templates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483D2A"/>
                </a:solidFill>
                <a:latin typeface="Poppins"/>
                <a:ea typeface="Poppins"/>
                <a:cs typeface="Poppins"/>
                <a:sym typeface="Poppins"/>
              </a:rPr>
              <a:t>Extended agentic workflows using MCP scaffold</a:t>
            </a:r>
          </a:p>
        </p:txBody>
      </p:sp>
      <p:sp>
        <p:nvSpPr>
          <p:cNvPr name="AutoShape 6" id="6"/>
          <p:cNvSpPr/>
          <p:nvPr/>
        </p:nvSpPr>
        <p:spPr>
          <a:xfrm>
            <a:off x="348843" y="425604"/>
            <a:ext cx="17637443" cy="7386696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5190397" y="7812300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41136" y="4123923"/>
            <a:ext cx="13382450" cy="5795493"/>
          </a:xfrm>
          <a:prstGeom prst="line">
            <a:avLst/>
          </a:prstGeom>
          <a:ln cap="flat" w="38100">
            <a:solidFill>
              <a:srgbClr val="DCDEBB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57027" y="364019"/>
            <a:ext cx="14729259" cy="7448282"/>
          </a:xfrm>
          <a:prstGeom prst="line">
            <a:avLst/>
          </a:prstGeom>
          <a:ln cap="flat" w="38100">
            <a:solidFill>
              <a:srgbClr val="DCDEBB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734826" y="-684353"/>
            <a:ext cx="5553174" cy="6612391"/>
          </a:xfrm>
          <a:custGeom>
            <a:avLst/>
            <a:gdLst/>
            <a:ahLst/>
            <a:cxnLst/>
            <a:rect r="r" b="b" t="t" l="l"/>
            <a:pathLst>
              <a:path h="6612391" w="5553174">
                <a:moveTo>
                  <a:pt x="0" y="0"/>
                </a:moveTo>
                <a:lnTo>
                  <a:pt x="5553174" y="0"/>
                </a:lnTo>
                <a:lnTo>
                  <a:pt x="5553174" y="6612391"/>
                </a:lnTo>
                <a:lnTo>
                  <a:pt x="0" y="66123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684573" y="6222318"/>
            <a:ext cx="2863975" cy="5827394"/>
          </a:xfrm>
          <a:custGeom>
            <a:avLst/>
            <a:gdLst/>
            <a:ahLst/>
            <a:cxnLst/>
            <a:rect r="r" b="b" t="t" l="l"/>
            <a:pathLst>
              <a:path h="5827394" w="2863975">
                <a:moveTo>
                  <a:pt x="2863975" y="5827393"/>
                </a:moveTo>
                <a:lnTo>
                  <a:pt x="0" y="5827393"/>
                </a:lnTo>
                <a:lnTo>
                  <a:pt x="0" y="0"/>
                </a:lnTo>
                <a:lnTo>
                  <a:pt x="2863975" y="0"/>
                </a:lnTo>
                <a:lnTo>
                  <a:pt x="2863975" y="582739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66578" y="7587266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964742" y="-1028700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89311" y="5281042"/>
            <a:ext cx="1699972" cy="1699972"/>
          </a:xfrm>
          <a:custGeom>
            <a:avLst/>
            <a:gdLst/>
            <a:ahLst/>
            <a:cxnLst/>
            <a:rect r="r" b="b" t="t" l="l"/>
            <a:pathLst>
              <a:path h="1699972" w="1699972">
                <a:moveTo>
                  <a:pt x="0" y="0"/>
                </a:moveTo>
                <a:lnTo>
                  <a:pt x="1699972" y="0"/>
                </a:lnTo>
                <a:lnTo>
                  <a:pt x="1699972" y="1699972"/>
                </a:lnTo>
                <a:lnTo>
                  <a:pt x="0" y="16999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15558" y="6280463"/>
            <a:ext cx="883130" cy="883130"/>
          </a:xfrm>
          <a:custGeom>
            <a:avLst/>
            <a:gdLst/>
            <a:ahLst/>
            <a:cxnLst/>
            <a:rect r="r" b="b" t="t" l="l"/>
            <a:pathLst>
              <a:path h="883130" w="883130">
                <a:moveTo>
                  <a:pt x="0" y="0"/>
                </a:moveTo>
                <a:lnTo>
                  <a:pt x="883131" y="0"/>
                </a:lnTo>
                <a:lnTo>
                  <a:pt x="883131" y="883131"/>
                </a:lnTo>
                <a:lnTo>
                  <a:pt x="0" y="8831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34420" y="2942511"/>
            <a:ext cx="8414534" cy="4544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6"/>
              </a:lnSpc>
            </a:pPr>
            <a:r>
              <a:rPr lang="en-US" b="true" sz="16556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DAHIUF6aAaY</dc:identifier>
  <dcterms:modified xsi:type="dcterms:W3CDTF">2011-08-01T06:04:30Z</dcterms:modified>
  <cp:revision>1</cp:revision>
  <dc:title>SalesMail AI Pro – AI-Powered Personalized Email Generation System</dc:title>
</cp:coreProperties>
</file>